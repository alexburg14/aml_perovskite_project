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12191695" cy="173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Machine-Learning Prediction of Stability and
Band Gap in ABX₃ Perovskites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2E6DB4"/>
                </a:solidFill>
              </a:rPr>
              <a:t>Project Midpoint Presentation</a:t>
            </a:r>
          </a:p>
          <a:p>
            <a:r>
              <a:rPr sz="1600" dirty="0">
                <a:solidFill>
                  <a:srgbClr val="555555"/>
                </a:solidFill>
              </a:rPr>
              <a:t>Alex Burg </a:t>
            </a:r>
            <a:r>
              <a:rPr lang="en-AU" sz="1600" dirty="0">
                <a:solidFill>
                  <a:srgbClr val="555555"/>
                </a:solidFill>
              </a:rPr>
              <a:t>/ Alex Greck</a:t>
            </a:r>
            <a:r>
              <a:rPr sz="1600" dirty="0">
                <a:solidFill>
                  <a:srgbClr val="555555"/>
                </a:solidFill>
              </a:rPr>
              <a:t>  ·   29 June 2026</a:t>
            </a:r>
          </a:p>
          <a:p>
            <a:r>
              <a:rPr sz="1300" dirty="0">
                <a:solidFill>
                  <a:srgbClr val="555555"/>
                </a:solidFill>
              </a:rPr>
              <a:t>Atomistic Modeling — M.Sc.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Introduction &amp; 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81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599"/>
            <a:ext cx="6537960" cy="5157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ABX₃ perovskites: key materials for solar cells, LEDs, catalysis — but their properties usually come from expensive DFT calculations.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Goal: predict the two decisive properties directly from composition/structure, bypassing DFT: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202020"/>
                </a:solidFill>
              </a:rPr>
              <a:t>thermodynamic stability — energy above the convex hull (synthesizability)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202020"/>
                </a:solidFill>
              </a:rPr>
              <a:t>electronic structure — band gap (metal vs. semiconductor)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Constraint: </a:t>
            </a:r>
            <a:r>
              <a:rPr sz="1800" dirty="0" err="1">
                <a:solidFill>
                  <a:srgbClr val="202020"/>
                </a:solidFill>
              </a:rPr>
              <a:t>favour</a:t>
            </a:r>
            <a:r>
              <a:rPr sz="1800" dirty="0">
                <a:solidFill>
                  <a:srgbClr val="202020"/>
                </a:solidFill>
              </a:rPr>
              <a:t> synthesizable chemistries — exclude toxic / rare-earth / radioactive elements.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Research question: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202020"/>
                </a:solidFill>
              </a:rPr>
              <a:t>Can structural ML descriptors predict perovskite stability and band gap well enough to screen novel candidates?</a:t>
            </a:r>
          </a:p>
        </p:txBody>
      </p:sp>
      <p:pic>
        <p:nvPicPr>
          <p:cNvPr id="5" name="Picture 4" descr="fig10_CsSnI3_polymor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735" y="2195406"/>
            <a:ext cx="4802131" cy="2005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3253" y="443484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One composition (CsSnI₃) → several polymorphs with different band gaps &amp; stability: structural, not just compositional, descriptors are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Data: Dataset &amp; Descriptors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81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721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Source: OQMD-derived ABX₃ perovskite dataset (</a:t>
            </a:r>
            <a:r>
              <a:rPr sz="1800" dirty="0" err="1">
                <a:solidFill>
                  <a:srgbClr val="202020"/>
                </a:solidFill>
              </a:rPr>
              <a:t>Chenebuah</a:t>
            </a:r>
            <a:r>
              <a:rPr sz="1800" dirty="0">
                <a:solidFill>
                  <a:srgbClr val="202020"/>
                </a:solidFill>
              </a:rPr>
              <a:t> &amp; </a:t>
            </a:r>
            <a:r>
              <a:rPr sz="1800" dirty="0" err="1">
                <a:solidFill>
                  <a:srgbClr val="202020"/>
                </a:solidFill>
              </a:rPr>
              <a:t>Chenebuah</a:t>
            </a:r>
            <a:r>
              <a:rPr sz="1800" dirty="0">
                <a:solidFill>
                  <a:srgbClr val="202020"/>
                </a:solidFill>
              </a:rPr>
              <a:t> 2023) — 16,323 compounds.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Relaxed atomic structures fetched from the OQMD API: 16,316 / 16,323 (99.96%).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Targets per structure: band gap </a:t>
            </a:r>
            <a:r>
              <a:rPr sz="1800" dirty="0" err="1">
                <a:solidFill>
                  <a:srgbClr val="202020"/>
                </a:solidFill>
              </a:rPr>
              <a:t>E_g</a:t>
            </a:r>
            <a:r>
              <a:rPr sz="1800" dirty="0">
                <a:solidFill>
                  <a:srgbClr val="202020"/>
                </a:solidFill>
              </a:rPr>
              <a:t>, energy above hull (stability), formation energy.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Reduced set (remove rare-earth / radioactive): ~8,000 structures; matrix descriptors also cap ≤30 atoms ⇒ 7,875.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Structural descriptors (</a:t>
            </a:r>
            <a:r>
              <a:rPr sz="1800" dirty="0" err="1">
                <a:solidFill>
                  <a:srgbClr val="202020"/>
                </a:solidFill>
              </a:rPr>
              <a:t>DScribe</a:t>
            </a:r>
            <a:r>
              <a:rPr sz="1800" dirty="0">
                <a:solidFill>
                  <a:srgbClr val="202020"/>
                </a:solidFill>
              </a:rPr>
              <a:t>):</a:t>
            </a: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202020"/>
                </a:solidFill>
              </a:rPr>
              <a:t>SOAP — 48,870 dimensions (local atomic environments)</a:t>
            </a: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rgbClr val="202020"/>
                </a:solidFill>
              </a:rPr>
              <a:t>Coulomb matrix — 900 dimensions</a:t>
            </a: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rgbClr val="202020"/>
                </a:solidFill>
              </a:rPr>
              <a:t>Ewald sum matrix — 900 dimensions (periodicity-aware)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Data Analysis: Target Distributions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81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3970"/>
            <a:ext cx="11064240" cy="1654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600" dirty="0">
                <a:solidFill>
                  <a:srgbClr val="202020"/>
                </a:solidFill>
              </a:rPr>
              <a:t>• Band gap is bimodal — a large spike at 0 eV (metals, ~69%) and the rest above 0.2 eV; almost nothing in between.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600" dirty="0">
                <a:solidFill>
                  <a:srgbClr val="202020"/>
                </a:solidFill>
              </a:rPr>
              <a:t>• Energy above hull is strongly right-skewed (skew = 2.1): median 0.26, long tail to 4.7 eV/atom.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600" dirty="0">
                <a:solidFill>
                  <a:srgbClr val="202020"/>
                </a:solidFill>
              </a:rPr>
              <a:t>• Further EDA: element frequencies (84 elements), A/B/X site occupancy, atoms-per-cell (→ </a:t>
            </a:r>
            <a:r>
              <a:rPr sz="1600" dirty="0" err="1">
                <a:solidFill>
                  <a:srgbClr val="202020"/>
                </a:solidFill>
              </a:rPr>
              <a:t>n_atoms_max</a:t>
            </a:r>
            <a:r>
              <a:rPr sz="1600" dirty="0">
                <a:solidFill>
                  <a:srgbClr val="202020"/>
                </a:solidFill>
              </a:rPr>
              <a:t> = 30 cutoff).</a:t>
            </a:r>
          </a:p>
        </p:txBody>
      </p:sp>
      <p:pic>
        <p:nvPicPr>
          <p:cNvPr id="5" name="Picture 4" descr="fig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200400"/>
            <a:ext cx="9601200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Data Analysis: Label Definition &amp; Sensitivity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81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142900"/>
            <a:ext cx="6766560" cy="3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600" dirty="0">
                <a:solidFill>
                  <a:srgbClr val="202020"/>
                </a:solidFill>
              </a:rPr>
              <a:t>• Continuous targets must be </a:t>
            </a:r>
            <a:r>
              <a:rPr sz="1600" dirty="0" err="1">
                <a:solidFill>
                  <a:srgbClr val="202020"/>
                </a:solidFill>
              </a:rPr>
              <a:t>thresholded</a:t>
            </a:r>
            <a:r>
              <a:rPr sz="1600" dirty="0">
                <a:solidFill>
                  <a:srgbClr val="202020"/>
                </a:solidFill>
              </a:rPr>
              <a:t> into classes — the cutoff is a modelling choice.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600" dirty="0">
                <a:solidFill>
                  <a:srgbClr val="202020"/>
                </a:solidFill>
              </a:rPr>
              <a:t>• </a:t>
            </a:r>
            <a:r>
              <a:rPr sz="1600" dirty="0" err="1">
                <a:solidFill>
                  <a:srgbClr val="202020"/>
                </a:solidFill>
              </a:rPr>
              <a:t>is_metal</a:t>
            </a:r>
            <a:r>
              <a:rPr sz="1600" dirty="0">
                <a:solidFill>
                  <a:srgbClr val="202020"/>
                </a:solidFill>
              </a:rPr>
              <a:t> = </a:t>
            </a:r>
            <a:r>
              <a:rPr sz="1600" dirty="0" err="1">
                <a:solidFill>
                  <a:srgbClr val="202020"/>
                </a:solidFill>
              </a:rPr>
              <a:t>band_gap</a:t>
            </a:r>
            <a:r>
              <a:rPr sz="1600" dirty="0">
                <a:solidFill>
                  <a:srgbClr val="202020"/>
                </a:solidFill>
              </a:rPr>
              <a:t> ≤ t : robust (gaps bimodal) — ~69% metal regardless of t.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600" dirty="0">
                <a:solidFill>
                  <a:srgbClr val="202020"/>
                </a:solidFill>
              </a:rPr>
              <a:t>• </a:t>
            </a:r>
            <a:r>
              <a:rPr sz="1600" dirty="0" err="1">
                <a:solidFill>
                  <a:srgbClr val="202020"/>
                </a:solidFill>
              </a:rPr>
              <a:t>is_stable</a:t>
            </a:r>
            <a:r>
              <a:rPr sz="1600" dirty="0">
                <a:solidFill>
                  <a:srgbClr val="202020"/>
                </a:solidFill>
              </a:rPr>
              <a:t> = </a:t>
            </a:r>
            <a:r>
              <a:rPr sz="1600" dirty="0" err="1">
                <a:solidFill>
                  <a:srgbClr val="202020"/>
                </a:solidFill>
              </a:rPr>
              <a:t>E_hull</a:t>
            </a:r>
            <a:r>
              <a:rPr sz="1600" dirty="0">
                <a:solidFill>
                  <a:srgbClr val="202020"/>
                </a:solidFill>
              </a:rPr>
              <a:t> ≤ t : highly sensitive.</a:t>
            </a: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202020"/>
                </a:solidFill>
              </a:rPr>
              <a:t>exact-zero ⇒ only 3.3% positive (degenerate task)</a:t>
            </a: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202020"/>
                </a:solidFill>
              </a:rPr>
              <a:t>0.025 eV/atom (synthesizability cutoff) ⇒ 13.8%</a:t>
            </a:r>
          </a:p>
        </p:txBody>
      </p:sp>
      <p:pic>
        <p:nvPicPr>
          <p:cNvPr id="5" name="Picture 4" descr="fig_label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298191"/>
            <a:ext cx="4572000" cy="28021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Preliminary Tests: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81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3723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Two tasks: </a:t>
            </a:r>
            <a:r>
              <a:rPr sz="1800" dirty="0" err="1">
                <a:solidFill>
                  <a:srgbClr val="202020"/>
                </a:solidFill>
              </a:rPr>
              <a:t>is_metal</a:t>
            </a:r>
            <a:r>
              <a:rPr sz="1800" dirty="0">
                <a:solidFill>
                  <a:srgbClr val="202020"/>
                </a:solidFill>
              </a:rPr>
              <a:t> </a:t>
            </a:r>
            <a:r>
              <a:rPr sz="1800" b="1" dirty="0">
                <a:solidFill>
                  <a:srgbClr val="202020"/>
                </a:solidFill>
              </a:rPr>
              <a:t>classification</a:t>
            </a:r>
            <a:r>
              <a:rPr sz="1800" dirty="0">
                <a:solidFill>
                  <a:srgbClr val="202020"/>
                </a:solidFill>
              </a:rPr>
              <a:t>  and  energy-above-hull </a:t>
            </a:r>
            <a:r>
              <a:rPr sz="1800" b="1" dirty="0">
                <a:solidFill>
                  <a:srgbClr val="202020"/>
                </a:solidFill>
              </a:rPr>
              <a:t>regression</a:t>
            </a:r>
            <a:r>
              <a:rPr sz="1800" dirty="0">
                <a:solidFill>
                  <a:srgbClr val="202020"/>
                </a:solidFill>
              </a:rPr>
              <a:t>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Three descriptors compared: </a:t>
            </a:r>
            <a:r>
              <a:rPr sz="1800" b="1" dirty="0">
                <a:solidFill>
                  <a:srgbClr val="202020"/>
                </a:solidFill>
              </a:rPr>
              <a:t>SOAP</a:t>
            </a:r>
            <a:r>
              <a:rPr sz="1800" dirty="0">
                <a:solidFill>
                  <a:srgbClr val="202020"/>
                </a:solidFill>
              </a:rPr>
              <a:t>, </a:t>
            </a:r>
            <a:r>
              <a:rPr sz="1800" b="1" dirty="0">
                <a:solidFill>
                  <a:srgbClr val="202020"/>
                </a:solidFill>
              </a:rPr>
              <a:t>Coulomb </a:t>
            </a:r>
            <a:r>
              <a:rPr sz="1800" dirty="0">
                <a:solidFill>
                  <a:srgbClr val="202020"/>
                </a:solidFill>
              </a:rPr>
              <a:t>matrix, </a:t>
            </a:r>
            <a:r>
              <a:rPr sz="1800" b="1" dirty="0">
                <a:solidFill>
                  <a:srgbClr val="202020"/>
                </a:solidFill>
              </a:rPr>
              <a:t>Ewald sum </a:t>
            </a:r>
            <a:r>
              <a:rPr sz="1800" dirty="0">
                <a:solidFill>
                  <a:srgbClr val="202020"/>
                </a:solidFill>
              </a:rPr>
              <a:t>matrix</a:t>
            </a:r>
            <a:r>
              <a:rPr sz="1800" b="1" dirty="0">
                <a:solidFill>
                  <a:srgbClr val="202020"/>
                </a:solidFill>
              </a:rPr>
              <a:t>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Model</a:t>
            </a:r>
            <a:r>
              <a:rPr lang="en-AU" sz="1800" dirty="0">
                <a:solidFill>
                  <a:srgbClr val="202020"/>
                </a:solidFill>
              </a:rPr>
              <a:t>s tried</a:t>
            </a:r>
            <a:r>
              <a:rPr sz="1800" dirty="0">
                <a:solidFill>
                  <a:srgbClr val="202020"/>
                </a:solidFill>
              </a:rPr>
              <a:t>: Decision Tree</a:t>
            </a:r>
            <a:r>
              <a:rPr lang="en-AU" sz="1800" dirty="0">
                <a:solidFill>
                  <a:srgbClr val="202020"/>
                </a:solidFill>
              </a:rPr>
              <a:t>,</a:t>
            </a:r>
            <a:r>
              <a:rPr sz="1800" dirty="0">
                <a:solidFill>
                  <a:srgbClr val="202020"/>
                </a:solidFill>
              </a:rPr>
              <a:t> Random Forest</a:t>
            </a:r>
            <a:r>
              <a:rPr lang="en-AU" sz="1800" dirty="0">
                <a:solidFill>
                  <a:srgbClr val="202020"/>
                </a:solidFill>
              </a:rPr>
              <a:t>, </a:t>
            </a:r>
            <a:r>
              <a:rPr sz="1800" dirty="0" err="1">
                <a:solidFill>
                  <a:srgbClr val="202020"/>
                </a:solidFill>
              </a:rPr>
              <a:t>HistGradientBoosting</a:t>
            </a:r>
            <a:r>
              <a:rPr sz="1800" dirty="0">
                <a:solidFill>
                  <a:srgbClr val="202020"/>
                </a:solidFill>
              </a:rPr>
              <a:t>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Class imbalance handled with </a:t>
            </a:r>
            <a:r>
              <a:rPr sz="1800" dirty="0" err="1">
                <a:solidFill>
                  <a:srgbClr val="202020"/>
                </a:solidFill>
              </a:rPr>
              <a:t>class_weight</a:t>
            </a:r>
            <a:r>
              <a:rPr sz="1800" dirty="0">
                <a:solidFill>
                  <a:srgbClr val="202020"/>
                </a:solidFill>
              </a:rPr>
              <a:t> = balanced.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Evaluation: cross-validation (not a single split); balanced accuracy + F1 for classification, R² + MAE for regression.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All wired through a small shared package (config / data / descriptors / evaluation / labels).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Preliminary Tests: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81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3880" y="1280160"/>
            <a:ext cx="11064240" cy="214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600" dirty="0">
                <a:solidFill>
                  <a:srgbClr val="202020"/>
                </a:solidFill>
              </a:rPr>
              <a:t>• Regression — best: SOAP + </a:t>
            </a:r>
            <a:r>
              <a:rPr sz="1600" dirty="0" err="1">
                <a:solidFill>
                  <a:srgbClr val="202020"/>
                </a:solidFill>
              </a:rPr>
              <a:t>HistGradientBoosting</a:t>
            </a:r>
            <a:r>
              <a:rPr sz="1600" dirty="0">
                <a:solidFill>
                  <a:srgbClr val="202020"/>
                </a:solidFill>
              </a:rPr>
              <a:t> → R² = 0.90, MAE = 0.11 eV/atom.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600" dirty="0">
                <a:solidFill>
                  <a:srgbClr val="202020"/>
                </a:solidFill>
              </a:rPr>
              <a:t>• Classification — best: SOAP + Random Forest → balanced accuracy = 0.86 (Coulomb only 0.70).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600" dirty="0">
                <a:solidFill>
                  <a:srgbClr val="202020"/>
                </a:solidFill>
              </a:rPr>
              <a:t>• </a:t>
            </a:r>
            <a:r>
              <a:rPr sz="1600" dirty="0" err="1">
                <a:solidFill>
                  <a:srgbClr val="202020"/>
                </a:solidFill>
              </a:rPr>
              <a:t>HistGB</a:t>
            </a:r>
            <a:r>
              <a:rPr sz="1600" dirty="0">
                <a:solidFill>
                  <a:srgbClr val="202020"/>
                </a:solidFill>
              </a:rPr>
              <a:t> is more accurate for regression but 15–35× slower than RF; descriptor choice (SOAP) matters more than model choice for </a:t>
            </a:r>
            <a:r>
              <a:rPr sz="1600" dirty="0" err="1">
                <a:solidFill>
                  <a:srgbClr val="202020"/>
                </a:solidFill>
              </a:rPr>
              <a:t>is_metal</a:t>
            </a:r>
            <a:r>
              <a:rPr sz="1600" dirty="0">
                <a:solidFill>
                  <a:srgbClr val="202020"/>
                </a:solidFill>
              </a:rPr>
              <a:t>.</a:t>
            </a:r>
          </a:p>
        </p:txBody>
      </p:sp>
      <p:pic>
        <p:nvPicPr>
          <p:cNvPr id="5" name="Picture 4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953" y="3315580"/>
            <a:ext cx="9298093" cy="3533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Does Performance Track the Data Distributions?  Yes.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81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12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700" dirty="0">
                <a:solidFill>
                  <a:srgbClr val="202020"/>
                </a:solidFill>
              </a:rPr>
              <a:t>• </a:t>
            </a:r>
            <a:r>
              <a:rPr sz="1700" dirty="0" err="1">
                <a:solidFill>
                  <a:srgbClr val="202020"/>
                </a:solidFill>
              </a:rPr>
              <a:t>is_metal</a:t>
            </a:r>
            <a:r>
              <a:rPr sz="1700" dirty="0">
                <a:solidFill>
                  <a:srgbClr val="202020"/>
                </a:solidFill>
              </a:rPr>
              <a:t>: clean bimodal band gap ⇒ well-separated classes ⇒ high, threshold-robust accuracy (0.86).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700" dirty="0">
                <a:solidFill>
                  <a:srgbClr val="202020"/>
                </a:solidFill>
              </a:rPr>
              <a:t>• </a:t>
            </a:r>
            <a:r>
              <a:rPr lang="en-AU" sz="1700" dirty="0" err="1"/>
              <a:t>is_stable</a:t>
            </a:r>
            <a:r>
              <a:rPr lang="en-AU" sz="1700" dirty="0"/>
              <a:t>: extreme imbalance (3% positive at exact-zero) </a:t>
            </a: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700" dirty="0"/>
              <a:t>The 0.025 cutoff rebalances it (→14% positive); balanced accuracy improves with the threshold (e.g. Ewald 0.53→0.66), though it stays modest 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700" dirty="0">
                <a:solidFill>
                  <a:srgbClr val="202020"/>
                </a:solidFill>
              </a:rPr>
              <a:t>• Hull energy: right-skewed with outliers ⇒ RMSE ≫ MAE; max error ≈ 4.5 eV/atom on rare ultra-unstable phases — the tail is the hard part.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700" dirty="0">
                <a:solidFill>
                  <a:srgbClr val="202020"/>
                </a:solidFill>
              </a:rPr>
              <a:t>• Dimensionality: SOAP's hull signal is diffuse across 48k dims — RF with </a:t>
            </a:r>
            <a:r>
              <a:rPr sz="1700" dirty="0" err="1">
                <a:solidFill>
                  <a:srgbClr val="202020"/>
                </a:solidFill>
              </a:rPr>
              <a:t>max_features</a:t>
            </a:r>
            <a:r>
              <a:rPr sz="1700" dirty="0">
                <a:solidFill>
                  <a:srgbClr val="202020"/>
                </a:solidFill>
              </a:rPr>
              <a:t>=sqrt collapses R² 0.90 → 0.46; the </a:t>
            </a:r>
            <a:r>
              <a:rPr sz="1700" dirty="0" err="1">
                <a:solidFill>
                  <a:srgbClr val="202020"/>
                </a:solidFill>
              </a:rPr>
              <a:t>is_metal</a:t>
            </a:r>
            <a:r>
              <a:rPr sz="1700" dirty="0">
                <a:solidFill>
                  <a:srgbClr val="202020"/>
                </a:solidFill>
              </a:rPr>
              <a:t> signal is concentrated (sqrt is fine).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Key Caveat: Honest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81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583680" cy="3084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600" dirty="0">
                <a:solidFill>
                  <a:srgbClr val="202020"/>
                </a:solidFill>
              </a:rPr>
              <a:t>• A random (shuffled) train/test split inflates scores here:</a:t>
            </a: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202020"/>
                </a:solidFill>
              </a:rPr>
              <a:t>chemical-family leakage — data is clustered by chemistry</a:t>
            </a: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202020"/>
                </a:solidFill>
              </a:rPr>
              <a:t>polymorph leakage — same-composition structures split across train/test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600" dirty="0">
                <a:solidFill>
                  <a:srgbClr val="202020"/>
                </a:solidFill>
              </a:rPr>
              <a:t>• Holding out grouped/ordered blocks instead:</a:t>
            </a: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202020"/>
                </a:solidFill>
              </a:rPr>
              <a:t>hull-energy R²: 0.80 (shuffled) → 0.51 (grouped)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600" dirty="0">
                <a:solidFill>
                  <a:srgbClr val="202020"/>
                </a:solidFill>
              </a:rPr>
              <a:t>• ⇒ realistic screening estimates need composition-grouped splits.</a:t>
            </a:r>
          </a:p>
        </p:txBody>
      </p:sp>
      <p:pic>
        <p:nvPicPr>
          <p:cNvPr id="5" name="Picture 4" descr="fig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572000" cy="28021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81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199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Honest evaluation: </a:t>
            </a:r>
            <a:r>
              <a:rPr sz="1800" dirty="0" err="1">
                <a:solidFill>
                  <a:srgbClr val="202020"/>
                </a:solidFill>
              </a:rPr>
              <a:t>GroupKFold</a:t>
            </a:r>
            <a:r>
              <a:rPr sz="1800" dirty="0">
                <a:solidFill>
                  <a:srgbClr val="202020"/>
                </a:solidFill>
              </a:rPr>
              <a:t> by composition / scaffold splits to remove leakage.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1800" dirty="0">
                <a:solidFill>
                  <a:srgbClr val="202020"/>
                </a:solidFill>
              </a:rPr>
              <a:t>• Dimensionality reduction: PCA(SOAP) → fast and accurate; makes gradient boosting practical at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81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dirty="0">
                <a:solidFill>
                  <a:srgbClr val="202020"/>
                </a:solidFill>
              </a:rPr>
              <a:t>• Dataset — E. T. </a:t>
            </a:r>
            <a:r>
              <a:rPr sz="1400" dirty="0" err="1">
                <a:solidFill>
                  <a:srgbClr val="202020"/>
                </a:solidFill>
              </a:rPr>
              <a:t>Chenebuah</a:t>
            </a:r>
            <a:r>
              <a:rPr sz="1400" dirty="0">
                <a:solidFill>
                  <a:srgbClr val="202020"/>
                </a:solidFill>
              </a:rPr>
              <a:t> &amp; D. T. </a:t>
            </a:r>
            <a:r>
              <a:rPr sz="1400" dirty="0" err="1">
                <a:solidFill>
                  <a:srgbClr val="202020"/>
                </a:solidFill>
              </a:rPr>
              <a:t>Chenebuah</a:t>
            </a:r>
            <a:r>
              <a:rPr sz="1400" dirty="0">
                <a:solidFill>
                  <a:srgbClr val="202020"/>
                </a:solidFill>
              </a:rPr>
              <a:t>, “An inorganic ABX₃ perovskite materials dataset for ML,” arXiv:2312.11335 (2023).  https://doi.org/10.48550/arXiv.2312.11335  ·  github.com/</a:t>
            </a:r>
            <a:r>
              <a:rPr sz="1400" dirty="0" err="1">
                <a:solidFill>
                  <a:srgbClr val="202020"/>
                </a:solidFill>
              </a:rPr>
              <a:t>chenebuah</a:t>
            </a:r>
            <a:r>
              <a:rPr sz="1400" dirty="0">
                <a:solidFill>
                  <a:srgbClr val="202020"/>
                </a:solidFill>
              </a:rPr>
              <a:t>/ML_abx3_dataset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913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Burg</cp:lastModifiedBy>
  <cp:revision>3</cp:revision>
  <dcterms:created xsi:type="dcterms:W3CDTF">2013-01-27T09:14:16Z</dcterms:created>
  <dcterms:modified xsi:type="dcterms:W3CDTF">2026-06-28T23:28:45Z</dcterms:modified>
  <cp:category/>
</cp:coreProperties>
</file>